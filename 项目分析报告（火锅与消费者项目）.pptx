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1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71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9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9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70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6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7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7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7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7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7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/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86" name="TextBox 3"/>
          <p:cNvSpPr txBox="1"/>
          <p:nvPr/>
        </p:nvSpPr>
        <p:spPr>
          <a:xfrm>
            <a:off x="914400" y="2286000"/>
            <a:ext cx="11358880" cy="8280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defRPr sz="44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上海火锅餐饮数据挖掘与消费者行为策略分析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914400" y="3840480"/>
            <a:ext cx="5148581" cy="4597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200">
                <a:solidFill>
                  <a:srgbClr val="505050"/>
                </a:solidFill>
                <a:latin typeface="微软雅黑" panose="020B0503020204020204" charset="-122"/>
              </a:defRPr>
            </a:pPr>
            <a:r>
              <a:t>基于MySQL与Python的餐饮大数据研究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914400" y="5029200"/>
            <a:ext cx="1732281" cy="3962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1800">
                <a:solidFill>
                  <a:srgbClr val="DC5A32"/>
                </a:solidFill>
                <a:latin typeface="微软雅黑" panose="020B0503020204020204" charset="-122"/>
              </a:defRPr>
            </a:pPr>
            <a:r>
              <a:t>汇报人：李馨瑞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/>
      <p:sp>
        <p:nvSpPr>
          <p:cNvPr id="104858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1" name="TextBox 3"/>
          <p:cNvSpPr txBox="1"/>
          <p:nvPr/>
        </p:nvSpPr>
        <p:spPr>
          <a:xfrm>
            <a:off x="457200" y="228600"/>
            <a:ext cx="40055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一、研究背景与核心目标</a:t>
            </a:r>
          </a:p>
        </p:txBody>
      </p:sp>
      <p:sp>
        <p:nvSpPr>
          <p:cNvPr id="1048592" name="TextBox 4"/>
          <p:cNvSpPr txBox="1"/>
          <p:nvPr/>
        </p:nvSpPr>
        <p:spPr>
          <a:xfrm>
            <a:off x="457200" y="1005840"/>
            <a:ext cx="10972800" cy="17735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研究背景：火锅作为中式餐饮第一大品类，上海市场呈现高端化与细分化并存趋势。消费者决策已从单一价格敏感转向多维体验评估（口味、环境、服务、口碑）。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数据规模：采集上海市火锅商户数据共749</a:t>
            </a:r>
            <a:r>
              <a:rPr lang="zh-CN"/>
              <a:t>家</a:t>
            </a:r>
            <a:r>
              <a:t>，涵盖星级、人均消费、评论数、口味/环境/服务评分及推荐菜品等核心维度。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技术栈：MySQL完成数据清洗与结构化查询，Python（Pandas/Seaborn/Sklearn）完成统计分析、可视化与机器学习建模。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457200" y="3192779"/>
            <a:ext cx="10972800" cy="189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核心研究目标：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1. 市场结构洞察：解析上海火锅市场的价格分层、星级分布与竞争密度；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2. 消费者行为解码：通过评论分布、偏好词云与相关性分析，量化消费者决策因子权重；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3. 店铺分层运营：基于K-Means聚类构建商户分层模型，识别高潜店铺与风险店铺特征；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4. 智能推荐落地：开发多条件过滤推荐引擎，实现“人-店-菜品”精准匹配。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/>
      <p:sp>
        <p:nvSpPr>
          <p:cNvPr id="104859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6" name="TextBox 3"/>
          <p:cNvSpPr txBox="1"/>
          <p:nvPr/>
        </p:nvSpPr>
        <p:spPr>
          <a:xfrm>
            <a:off x="457200" y="228600"/>
            <a:ext cx="40055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二、数据基础与清洗框架</a:t>
            </a:r>
          </a:p>
        </p:txBody>
      </p:sp>
      <p:sp>
        <p:nvSpPr>
          <p:cNvPr id="1048597" name="TextBox 4"/>
          <p:cNvSpPr txBox="1"/>
          <p:nvPr/>
        </p:nvSpPr>
        <p:spPr>
          <a:xfrm>
            <a:off x="457200" y="1005840"/>
            <a:ext cx="10972800" cy="650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原始数据字段：商户名称、URL、星级（五星/准五星/四星/准四星）、评论数、人均消费、口味评分、环境评分、服务评分、推荐菜品。</a:t>
            </a:r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457200" y="1748344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2336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清洗环节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处理方式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业务意义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缺失值处理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删除name/star/comment/avg_price为空的记录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保证核心分析字段完整，避免统计偏差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异常值修正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avg_price=1的异常值修正为111元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排除系统抓取错误，还原真实消费水平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星级数值化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映射为5.0/4.5/4.0/3.5分档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支持后续聚类与相关性计算的连续型变量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综合评分构建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(口味+环境+服务)/3 保留两位小数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建立统一体验度量标准，便于横向对比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48598" name="TextBox 6"/>
          <p:cNvSpPr txBox="1"/>
          <p:nvPr/>
        </p:nvSpPr>
        <p:spPr>
          <a:xfrm>
            <a:off x="457200" y="3906327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清洗结果：保留有效记录749条，数据完整率100%，为后续建模提供高质量样本基础。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拓展说明：推荐菜品字段通过jieba分词进行语义挖掘，构建消费者偏好词库，为词云分析与关键词推荐提供语料支持。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/>
      <p:sp>
        <p:nvSpPr>
          <p:cNvPr id="104859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0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01" name="TextBox 3"/>
          <p:cNvSpPr txBox="1"/>
          <p:nvPr/>
        </p:nvSpPr>
        <p:spPr>
          <a:xfrm>
            <a:off x="457200" y="228600"/>
            <a:ext cx="43611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三、上海火锅市场总体画像</a:t>
            </a:r>
          </a:p>
        </p:txBody>
      </p:sp>
      <p:sp>
        <p:nvSpPr>
          <p:cNvPr id="1048602" name="TextBox 4"/>
          <p:cNvSpPr txBox="1"/>
          <p:nvPr/>
        </p:nvSpPr>
        <p:spPr>
          <a:xfrm>
            <a:off x="457200" y="1005840"/>
            <a:ext cx="10972800" cy="370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通过对749家火锅商户的描述性统计，上海火锅市场呈现“高参与、中价位、强口碑”的总体特征：</a:t>
            </a:r>
          </a:p>
        </p:txBody>
      </p:sp>
      <p:graphicFrame>
        <p:nvGraphicFramePr>
          <p:cNvPr id="4194305" name="Table 5"/>
          <p:cNvGraphicFramePr>
            <a:graphicFrameLocks noGrp="1"/>
          </p:cNvGraphicFramePr>
          <p:nvPr/>
        </p:nvGraphicFramePr>
        <p:xfrm>
          <a:off x="457200" y="146304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统计值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统计值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总店数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749家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人均消费均值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约140元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最低人均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1元（修正后111元）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最高人均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1073元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平均评论数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约3500条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口味均分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8.72分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环境均分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8.68分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服务均分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8.64分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48603" name="TextBox 6"/>
          <p:cNvSpPr txBox="1"/>
          <p:nvPr/>
        </p:nvSpPr>
        <p:spPr>
          <a:xfrm>
            <a:off x="457200" y="3246120"/>
            <a:ext cx="10972800" cy="1793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关键发现：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口味、环境、服务三项评分高度接近（极差&lt;0.1），说明上海火锅市场整体服务基准线较高，单维度突破难以形成竞争壁垒；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人均消费跨度极大（111-1073元），标准差显著，市场分层明显，存在高端精品火锅与大众连锁火锅的清晰断层；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平均评论数达3500条，反映火锅品类社交属性强，消费者乐于在点评平台分享体验，口碑传播是核心获客渠道。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/>
      <p:sp>
        <p:nvSpPr>
          <p:cNvPr id="104860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0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06" name="TextBox 3"/>
          <p:cNvSpPr txBox="1"/>
          <p:nvPr/>
        </p:nvSpPr>
        <p:spPr>
          <a:xfrm>
            <a:off x="457200" y="228600"/>
            <a:ext cx="47167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四、价格体系与消费分层结构</a:t>
            </a:r>
          </a:p>
        </p:txBody>
      </p:sp>
      <p:sp>
        <p:nvSpPr>
          <p:cNvPr id="1048607" name="TextBox 4"/>
          <p:cNvSpPr txBox="1"/>
          <p:nvPr/>
        </p:nvSpPr>
        <p:spPr>
          <a:xfrm>
            <a:off x="457200" y="1005840"/>
            <a:ext cx="5303520" cy="301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【价格区间分布特征】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0-50元：占比极低，火锅品类成本结构决定其难以进入超低价赛道；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50-100元：大众消费主阵地，门店密度最高，竞争激烈，多为连锁品牌（如小肥羊）；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100-200元：品质升级区间，消费者愿意为更好的食材与环境支付溢价；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200-300元：中高端市场，注重场景体验与差异化菜品；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300-500元及500+：高端精品火锅（如洋房火锅、季悦火锅），以海鲜、和牛、私密环境为核心卖点，客群价格敏感度低。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6217920" y="1005840"/>
            <a:ext cx="5303520" cy="2682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【价格与热度的反直觉关系】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散点图显示：高评论数（&gt;20000）主要集中在50-150元区间，说明“高频复购”是热度基础；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高价区间（&gt;300元）评论数普遍偏低但星级稳定，呈现“低频次、高客单、高满意度”特征；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价格与评论数相关系数为-0.09，呈微弱负相关，验证“大众火锅靠流量，高端火锅靠利润”的双轨逻辑；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对经营者启示：定价策略需明确所处赛道，中端品牌盲目提价可能导致流量与口碑双失。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/>
      <p:sp>
        <p:nvSpPr>
          <p:cNvPr id="104860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1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11" name="TextBox 3"/>
          <p:cNvSpPr txBox="1"/>
          <p:nvPr/>
        </p:nvSpPr>
        <p:spPr>
          <a:xfrm>
            <a:off x="457200" y="228600"/>
            <a:ext cx="47167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五、星级分布与市场质量结构</a:t>
            </a:r>
          </a:p>
        </p:txBody>
      </p:sp>
      <p:sp>
        <p:nvSpPr>
          <p:cNvPr id="1048612" name="TextBox 4"/>
          <p:cNvSpPr txBox="1"/>
          <p:nvPr/>
        </p:nvSpPr>
        <p:spPr>
          <a:xfrm>
            <a:off x="457200" y="1005840"/>
            <a:ext cx="10972800" cy="650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星级分布呈现典型的“两头大、中间小”的哑铃型结构，五星与准五星商户合计占比超过90%，四星及准四星占比不足10%。</a:t>
            </a:r>
          </a:p>
        </p:txBody>
      </p:sp>
      <p:graphicFrame>
        <p:nvGraphicFramePr>
          <p:cNvPr id="4194306" name="Table 5"/>
          <p:cNvGraphicFramePr>
            <a:graphicFrameLocks noGrp="1"/>
          </p:cNvGraphicFramePr>
          <p:nvPr/>
        </p:nvGraphicFramePr>
        <p:xfrm>
          <a:off x="457200" y="1656079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92608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星级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数量（家）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五星商户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约357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47.7%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准五星商户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约352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四星商户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约35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4.7%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准四星商户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约5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48613" name="TextBox 6"/>
          <p:cNvSpPr txBox="1"/>
          <p:nvPr/>
        </p:nvSpPr>
        <p:spPr>
          <a:xfrm>
            <a:off x="457200" y="3429000"/>
            <a:ext cx="10972800" cy="2174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结构解读：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五星与准五星占据绝对主导，反映上海火锅市场整体品质门槛较高，低星商户生存空间被严重挤压；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准五星商户数量与五星几乎持平，说明“从准五星到五星”是竞争最激烈的跃迁通道，微小体验差距即可决定星级归属；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箱线图分析显示：五星商户的评论数中位数显著高于其他层级，且存在大量高评论异常值（如哥老官、上上谦），说明高星级与高热度并非完全独立，头部五星品牌兼具品质与流量优势。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策略延伸：新进入者应瞄准“准五星”基准线（口味/环境/服务≥8.5）作为生存底线，再通过差异化菜品突破至五星。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/>
      <p:sp>
        <p:nvSpPr>
          <p:cNvPr id="104861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1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16" name="TextBox 3"/>
          <p:cNvSpPr txBox="1"/>
          <p:nvPr/>
        </p:nvSpPr>
        <p:spPr>
          <a:xfrm>
            <a:off x="457200" y="228600"/>
            <a:ext cx="50723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六、消费者热度与口碑传播特征</a:t>
            </a:r>
          </a:p>
        </p:txBody>
      </p:sp>
      <p:sp>
        <p:nvSpPr>
          <p:cNvPr id="1048617" name="TextBox 4"/>
          <p:cNvSpPr txBox="1"/>
          <p:nvPr/>
        </p:nvSpPr>
        <p:spPr>
          <a:xfrm>
            <a:off x="457200" y="1005840"/>
            <a:ext cx="5303520" cy="3190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【评论数分布规律】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评论数呈严重右偏分布：大量商户评论数&lt;2000，少数头部商户评论数&gt;30000；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中位数远低于均值，市场热度高度集中于头部品牌，长尾商户冷启动困难；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评论数TOP5：上上谦（新梅联合广场店41585条）、上上谦（虹口龙之梦店35468条）、哥老官（人民广场店30514条）、哥老官（日月光店30234条）、三人行骨头王（徐汇总店27295条）。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共性特征：均为连锁品牌核心商圈店，具备“网红属性+明星效应/话题营销”双重驱动。</a:t>
            </a:r>
          </a:p>
        </p:txBody>
      </p:sp>
      <p:sp>
        <p:nvSpPr>
          <p:cNvPr id="1048618" name="TextBox 5"/>
          <p:cNvSpPr txBox="1"/>
          <p:nvPr/>
        </p:nvSpPr>
        <p:spPr>
          <a:xfrm>
            <a:off x="6217920" y="1005840"/>
            <a:ext cx="5303520" cy="26822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【口碑传播的双刃剑效应】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高评论数商户的评分方差更小，说明大量评价会稀释极端评分影响，形成“评分固化”；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新开业商户初期评分波动极大，前100条评论决定星级走向，需重点运营种子用户；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评论数与星级相关性接近0，说明“热度≠品质”，存在大量高热度但体验中等的商户（营销驱动型）；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对平台而言：需识别“高热度低体验”商户，避免推荐算法过度向流量倾斜导致用户体验下降。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/>
      <p:sp>
        <p:nvSpPr>
          <p:cNvPr id="104861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1" name="TextBox 3"/>
          <p:cNvSpPr txBox="1"/>
          <p:nvPr/>
        </p:nvSpPr>
        <p:spPr>
          <a:xfrm>
            <a:off x="457200" y="228600"/>
            <a:ext cx="8628380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七、消费者偏好语义挖掘——基于推荐菜品的词云分析</a:t>
            </a:r>
          </a:p>
        </p:txBody>
      </p:sp>
      <p:sp>
        <p:nvSpPr>
          <p:cNvPr id="1048622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对推荐菜品字段进行jieba分词与停用词过滤，提取高频消费偏好关键词，构建上海火锅消费者“味蕾地图”：</a:t>
            </a:r>
          </a:p>
        </p:txBody>
      </p:sp>
      <p:graphicFrame>
        <p:nvGraphicFramePr>
          <p:cNvPr id="4194307" name="Table 5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偏好层级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关键词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商业解读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核心食材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毛肚、牛肉、羊肉、虾丸、鹅肠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川式/重庆火锅基础食材仍是绝对主流，新鲜度与刀工是核心卖点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特色品类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猪肚、花胶、鲍鱼、海鲜、吊龙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上海市场偏好“火锅+滋补”融合，猪肚鸡、花胶鸡等广式锅物渗透率高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锅底类型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鸳鸯锅、番茄、菌汤、麻辣、胡椒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锅底多元化明显，鸳鸯锅兼顾嗜辣与清淡人群，胡椒猪肚汤底成差异化标签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品质信号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雪花、手切、空运、招牌、极品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消费者愿意为“可视化品质标签”支付溢价，如雪花牛肉、手切鲜羊肉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小吃搭配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煲仔饭、红糖糍粑、炸腐皮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火锅正餐化趋势明显，主食与小吃成为提升客单价与饱腹感的标配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23" name="TextBox 6"/>
          <p:cNvSpPr txBox="1"/>
          <p:nvPr/>
        </p:nvSpPr>
        <p:spPr>
          <a:xfrm>
            <a:off x="457200" y="4480560"/>
            <a:ext cx="10972800" cy="1793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深度洞察：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“毛肚”与“牛肉”占据词云绝对C位，说明尽管上海火锅品类多元化（猪肚鸡、寿喜锅、海鲜火锅），但消费者心智仍被川渝火锅的标志性食材主导；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“猪肚”高频出现反映地域口味融合，上海消费者对广式煲汤类火锅接受度极高，这与北方纯麻辣市场形成显著差异；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建议商户在菜单设计时，采用“1个爆款锅底+2个招牌食材+1个地域特色小吃”的组合公式，最大化覆盖搜索关键词。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/>
      <p:sp>
        <p:nvSpPr>
          <p:cNvPr id="104862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6" name="TextBox 3"/>
          <p:cNvSpPr txBox="1"/>
          <p:nvPr/>
        </p:nvSpPr>
        <p:spPr>
          <a:xfrm>
            <a:off x="457200" y="228600"/>
            <a:ext cx="40055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八、核心指标关联性洞察</a:t>
            </a:r>
          </a:p>
        </p:txBody>
      </p:sp>
      <p:sp>
        <p:nvSpPr>
          <p:cNvPr id="1048627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基于Pearson相关系数矩阵，揭示口味、环境、服务、星级、价格、评论数六维指标的内在关联：</a:t>
            </a:r>
          </a:p>
        </p:txBody>
      </p:sp>
      <p:graphicFrame>
        <p:nvGraphicFramePr>
          <p:cNvPr id="4194308" name="Table 5"/>
          <p:cNvGraphicFramePr>
            <a:graphicFrameLocks noGrp="1"/>
          </p:cNvGraphicFramePr>
          <p:nvPr/>
        </p:nvGraphicFramePr>
        <p:xfrm>
          <a:off x="457200" y="13716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96240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相关维度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相关系数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业务解读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口味 ↔ 星级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口味是决定星级的最强因子，符合火锅“好吃是硬道理”的品类特性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服务 ↔ 口味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高口味评分商户通常服务流程也更成熟，两者存在协同提升效应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环境 ↔ 服务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环境装修与服务标准往往由同一品牌体系输出，相关性最强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价格 ↔ 环境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价格与环境呈弱正相关，高端店环境好，但环境好不一定贵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价格 ↔ 口味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价格与口味相关性更弱，说明存在大量“高口味低价格”性价比洼地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28" name="TextBox 6"/>
          <p:cNvSpPr txBox="1"/>
          <p:nvPr/>
        </p:nvSpPr>
        <p:spPr>
          <a:xfrm>
            <a:off x="457199" y="4511040"/>
            <a:ext cx="10972800" cy="1793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策略启示：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口味是星级的“必要不充分条件”，商户必须首先保证口味≥8.5，再谈环境与服务升级；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环境与服务的高度相关（0.74）意味着可以打包优化，通过标准化培训与空间设计一体化提升体验；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价格与口味/环境的弱相关性揭示了“性价比机会窗口”：在100-150元区间提供接近五星的环境与服务，可形成强大竞争壁垒。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/>
      <p:sp>
        <p:nvSpPr>
          <p:cNvPr id="104862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1" name="TextBox 3"/>
          <p:cNvSpPr txBox="1"/>
          <p:nvPr/>
        </p:nvSpPr>
        <p:spPr>
          <a:xfrm>
            <a:off x="457200" y="228600"/>
            <a:ext cx="62407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九、K-Means聚类与店铺分层运营模型</a:t>
            </a:r>
          </a:p>
        </p:txBody>
      </p:sp>
      <p:sp>
        <p:nvSpPr>
          <p:cNvPr id="1048632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选取星级、口味、环境、服务四维指标进行标准化，采用K-Means算法（K=3）将749家商户划分为三个 distinct 层级：</a:t>
            </a:r>
          </a:p>
        </p:txBody>
      </p:sp>
      <p:graphicFrame>
        <p:nvGraphicFramePr>
          <p:cNvPr id="4194309" name="Table 5"/>
          <p:cNvGraphicFramePr>
            <a:graphicFrameLocks noGrp="1"/>
          </p:cNvGraphicFramePr>
          <p:nvPr/>
        </p:nvGraphicFramePr>
        <p:xfrm>
          <a:off x="457200" y="13716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聚类标签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样本量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星级均值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口味/环境/服务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特征画像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Cluster 0：品质标杆型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357家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9.06 / 9.00 / 9.05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高星级+高评分，市场领导者，品牌力强，客单价中高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Cluster 1：体验短板型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115家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4.34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8.50 / 8.21 / 8.20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低星级，至少一项体验指标明显落后，存在流失风险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Cluster 2：潜力成长型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277家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4.99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8.95 / 8.85 / 8.82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准五星为主，评分接近标杆型，差临门一脚即可跃迁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33" name="TextBox 6"/>
          <p:cNvSpPr txBox="1"/>
          <p:nvPr/>
        </p:nvSpPr>
        <p:spPr>
          <a:xfrm>
            <a:off x="457200" y="3428999"/>
            <a:ext cx="10972800" cy="2174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分层运营策略建议：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品质标杆型（Cluster 0）：重点维护品牌一致性，防范服务衰减，通过会员体系提升复购而非降价；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体验短板型（Cluster 1）：需进行体验诊断，识别是口味、环境还是服务拖后腿，优先改善最低分项（边际效益最大）；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潜力成长型（Cluster 2）：竞争最激烈的“腰部市场”，建议通过1-2个爆款菜品或场景创新（如夜宵档、主题包厢）实现星级跃迁；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聚类结果显示上海火锅市场呈“橄榄型”结构，腰部商户占比37%，是未来市场洗牌的主战场。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63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6" name="TextBox 3"/>
          <p:cNvSpPr txBox="1"/>
          <p:nvPr/>
        </p:nvSpPr>
        <p:spPr>
          <a:xfrm>
            <a:off x="457200" y="228600"/>
            <a:ext cx="43611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十、头部店铺竞争格局解析</a:t>
            </a:r>
          </a:p>
        </p:txBody>
      </p:sp>
      <p:sp>
        <p:nvSpPr>
          <p:cNvPr id="1048637" name="TextBox 4"/>
          <p:cNvSpPr txBox="1"/>
          <p:nvPr/>
        </p:nvSpPr>
        <p:spPr>
          <a:xfrm>
            <a:off x="457200" y="1005840"/>
            <a:ext cx="5303520" cy="29108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【价格维度头部】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TOP5最贵火锅：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1. 季悦火锅（虹桥迎宾馆店）1073元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2. 洋房火锅（岳阳路店）1058元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3. 季悦火锅（锦江店）1007元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4. 洋房火锅（新天地店）977元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5. 辉哥海鲜火锅（洛克外滩源店）962元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特征：均为海鲜/港式火锅，选址高端酒店或历史建筑，客群为商务宴请与高净值人群，价格敏感度极低。</a:t>
            </a:r>
          </a:p>
        </p:txBody>
      </p:sp>
      <p:sp>
        <p:nvSpPr>
          <p:cNvPr id="1048638" name="TextBox 5"/>
          <p:cNvSpPr txBox="1"/>
          <p:nvPr/>
        </p:nvSpPr>
        <p:spPr>
          <a:xfrm>
            <a:off x="6217920" y="1005840"/>
            <a:ext cx="5303520" cy="29362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【口碑维度头部】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口味最佳TOP10筛选条件：口味≥9.0分，按口味降序、价格升序排列；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发现：高口味评分并非高价格专属，部分100-150元商户口味可达9.1分，验证“好吃不贵”存在可行性；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评论数头部（上上谦、哥老官）与口味头部重合度低，说明“网红流量”与“极致口味”是两个独立赛道；</a:t>
            </a:r>
          </a:p>
          <a:p>
            <a:pPr>
              <a:spcAft>
                <a:spcPts val="600"/>
              </a:spcAft>
              <a:defRPr sz="15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竞争格局总结：上海火锅市场存在三条平行赛道——流量型（高评论）、品质型（高评分）、高端型（高客单），不同赛道评价标准与运营逻辑完全不同。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/>
      <p:sp>
        <p:nvSpPr>
          <p:cNvPr id="1048639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0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1" name="TextBox 3"/>
          <p:cNvSpPr txBox="1"/>
          <p:nvPr/>
        </p:nvSpPr>
        <p:spPr>
          <a:xfrm>
            <a:off x="457200" y="228600"/>
            <a:ext cx="50723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十一、智能推荐系统架构与实现</a:t>
            </a:r>
          </a:p>
        </p:txBody>
      </p:sp>
      <p:sp>
        <p:nvSpPr>
          <p:cNvPr id="1048642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基于多条件过滤与综合评分排序，构建可交互的智能火锅推荐引擎，实现从“人找店”到“店找人”的精准匹配。</a:t>
            </a:r>
          </a:p>
        </p:txBody>
      </p:sp>
      <p:graphicFrame>
        <p:nvGraphicFramePr>
          <p:cNvPr id="4194310" name="Table 5"/>
          <p:cNvGraphicFramePr>
            <a:graphicFrameLocks noGrp="1"/>
          </p:cNvGraphicFramePr>
          <p:nvPr/>
        </p:nvGraphicFramePr>
        <p:xfrm>
          <a:off x="45720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  <a:tc>
                  <a:txBody>
                    <a:bodyPr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B42828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条件过滤层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支持星级、价格区间、口味/环境/服务阈值筛选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Pandas布尔索引，支持动态参数输入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语义匹配层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基于推荐菜品的关键词匹配（如“毛肚”“胡椒”）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jieba分词 + str.contains模糊匹配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综合评分层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计算(口味+环境+服务)/3作为统一排序依据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Round保留两位小数，避免精度误差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排序输出层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先按综合评分降序，同分按评论数降序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>
                        <a:defRPr sz="1300">
                          <a:latin typeface="微软雅黑" panose="020B0503020204020204" charset="-122"/>
                        </a:defRPr>
                      </a:pPr>
                      <a:r>
                        <a:t>sort_values多字段排序，返回TopN结果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48643" name="TextBox 6"/>
          <p:cNvSpPr txBox="1"/>
          <p:nvPr/>
        </p:nvSpPr>
        <p:spPr>
          <a:xfrm>
            <a:off x="457200" y="3337560"/>
            <a:ext cx="10972800" cy="2174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应用案例：当用户输入“最低星级3.0、价格50-300元、评分≥3.0（实际映射为8.5+）、关键词胡椒”时，系统返回34家匹配商户，其中捞王锅物料理多店上榜，验证胡椒猪肚鸡为该价格带强势品类。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系统价值：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对消费者：降低决策成本，避免信息过载，快速定位符合预算与口味偏好的商户；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对平台：可作为推荐算法的基础过滤层，提升CTR与转化率；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对商户：通过分析被推荐商户的共性特征，反向指导菜单设计与定价策略。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64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5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6" name="TextBox 3"/>
          <p:cNvSpPr txBox="1"/>
          <p:nvPr/>
        </p:nvSpPr>
        <p:spPr>
          <a:xfrm>
            <a:off x="457200" y="228600"/>
            <a:ext cx="57835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十二、基于数据洞察的运营策略建议</a:t>
            </a:r>
          </a:p>
        </p:txBody>
      </p:sp>
      <p:sp>
        <p:nvSpPr>
          <p:cNvPr id="1048647" name="TextBox 4"/>
          <p:cNvSpPr txBox="1"/>
          <p:nvPr/>
        </p:nvSpPr>
        <p:spPr>
          <a:xfrm>
            <a:off x="457200" y="1005840"/>
            <a:ext cx="11507690" cy="5298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【策略一：价格锚定与性价比突围】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数据揭示100-150元是“高口味-中价格”真空带，建议新品牌采用“五星体验+四星价格”的错位竞争策略，以环境与服务（ correlated 0.74）作为溢价支撑点，而非单纯食材堆砌。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【策略二：爆款食材驱动的关键词营销】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词云显示“毛肚”“牛肉”“猪肚”是搜索高频词，商户应在点评平台标题、推荐菜首位、团购套餐名称中强制嵌入这些关键词，提升搜索权重与曝光率。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【策略三：腰部商户的星级跃迁路径】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Cluster 2（潜力成长型）商户评分与标杆型差距仅0.1-0.2分，建议集中资源单点突破：若口味已达标（≥8.9），则通过服务细节（等位小吃、生日关怀）实现口碑裂变，冲击五星。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【策略四：评论冷启动的杠杆解法】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评论数与品质脱钩，新商户应在前3个月通过“打卡送菜”“KOL探店”快速积累前500条评论，突破长尾陷阱；同时监控首条差评的回复速度与补偿方案，避免早期评分崩塌。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/>
      <p:sp>
        <p:nvSpPr>
          <p:cNvPr id="1048648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9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50" name="TextBox 3"/>
          <p:cNvSpPr txBox="1"/>
          <p:nvPr/>
        </p:nvSpPr>
        <p:spPr>
          <a:xfrm>
            <a:off x="457200" y="228600"/>
            <a:ext cx="4361181" cy="56134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 sz="2800" b="1">
                <a:solidFill>
                  <a:srgbClr val="B42828"/>
                </a:solidFill>
                <a:latin typeface="微软雅黑" panose="020B0503020204020204" charset="-122"/>
              </a:defRPr>
            </a:pPr>
            <a:r>
              <a:t>十三、研究总结与未来展望</a:t>
            </a:r>
          </a:p>
        </p:txBody>
      </p:sp>
      <p:sp>
        <p:nvSpPr>
          <p:cNvPr id="1048651" name="TextBox 4"/>
          <p:cNvSpPr txBox="1"/>
          <p:nvPr/>
        </p:nvSpPr>
        <p:spPr>
          <a:xfrm>
            <a:off x="457200" y="1005840"/>
            <a:ext cx="10972800" cy="2275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核心结论回顾：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1. 上海火锅市场呈“哑铃型”星级结构与“右偏型”热度分布，头部效应显著，但腰部存在大量跃迁机会；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2. 口味是星级的第一性原理（r=0.77），环境与服务协同提升（r=0.74），价格与品质弱相关，性价比洼地客观存在；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3. 消费者偏好呈现“川渝食材为核、广式滋补为翼”的融合特征，关键词营销应围绕毛肚、牛肉、猪肚展开；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4. K-Means聚类将市场清晰划分为标杆型、短板型、成长型三类，为精细化运营提供数据坐标系；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5. 智能推荐系统验证了多条件过滤在实际场景中的可行性，具备向SaaS化工具拓展的潜力。</a:t>
            </a:r>
          </a:p>
        </p:txBody>
      </p:sp>
      <p:sp>
        <p:nvSpPr>
          <p:cNvPr id="1048652" name="TextBox 5"/>
          <p:cNvSpPr txBox="1"/>
          <p:nvPr/>
        </p:nvSpPr>
        <p:spPr>
          <a:xfrm>
            <a:off x="457200" y="3281679"/>
            <a:ext cx="10972800" cy="2174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• 研究局限与展望：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数据维度：当前仅覆盖点评平台的结构化数据，未来可引入评论文本情感分析、用户画像（年龄/性别/地域）、营业时间、排队时长等字段，构建更立体的消费者决策模型；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时间维度：本研究为截面数据，未来可通过月度追踪建立面板数据，分析商户星级与评分的动态演化规律；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算法维度：当前推荐系统为规则引擎，后续可升级为协同过滤或深度学习模型，实现“千人千面”的个性化推荐；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  <a:latin typeface="微软雅黑" panose="020B0503020204020204" charset="-122"/>
              </a:defRPr>
            </a:pPr>
            <a:r>
              <a:t>  – 商业落地：建议将分析框架复用至其他餐饮品类（如烧烤、日料），验证模型的跨品类泛化能力。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5708</Words>
  <Application>WPS 演示</Application>
  <PresentationFormat/>
  <Paragraphs>399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23013RK75C</dc:creator>
  <cp:lastModifiedBy>WPS_1672041092</cp:lastModifiedBy>
  <cp:revision>1</cp:revision>
  <dcterms:created xsi:type="dcterms:W3CDTF">2026-07-17T03:25:58Z</dcterms:created>
  <dcterms:modified xsi:type="dcterms:W3CDTF">2026-07-17T03:25:58Z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C64D29FBFC7B472D92C621C9BECE1D53_13</vt:lpwstr>
  </property>
  <property fmtid="{D5CDD505-2E9C-101B-9397-08002B2CF9AE}" pid="3" name="KSOProductBuildVer">
    <vt:lpwstr>2052-12.1.0.26895</vt:lpwstr>
  </property>
</Properties>
</file>